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1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1621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840480" cy="3840480"/>
          </a:xfrm>
          <a:prstGeom prst="ellipse">
            <a:avLst/>
          </a:prstGeom>
          <a:solidFill>
            <a:srgbClr val="16213B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PROJECT REVIEW 2  • 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8FAFC"/>
                </a:solidFill>
                <a:latin typeface="Segoe UI"/>
              </a:rPr>
              <a:t>VaultDocs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7DD3FC"/>
                </a:solidFill>
                <a:latin typeface="Segoe UI"/>
              </a:rPr>
              <a:t>Secure Document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An API-first, tamper-proof document platform with immutable versioning,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Segoe UI"/>
              </a:rPr>
              <a:t>granular RBAC, full-text search and a complete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2000"/>
            <a:ext cx="1312164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622292"/>
            <a:ext cx="13121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Python 3.13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99716" y="4572000"/>
            <a:ext cx="928116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9716" y="4622292"/>
            <a:ext cx="9281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4572000"/>
            <a:ext cx="1504188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2424" y="4622292"/>
            <a:ext cx="15041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PostgreSQL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1204" y="4572000"/>
            <a:ext cx="112014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61204" y="4622292"/>
            <a:ext cx="11201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Redis 7.4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4572000"/>
            <a:ext cx="832104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462229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2" y="4572000"/>
            <a:ext cx="160020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2632" y="46222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SQLAlchemy 2.x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4572000"/>
            <a:ext cx="928116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07424" y="4622292"/>
            <a:ext cx="9281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Alembic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00132" y="4572000"/>
            <a:ext cx="1312164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00132" y="4622292"/>
            <a:ext cx="13121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Pydantic 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676888" y="4572000"/>
            <a:ext cx="832104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76888" y="462229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2D3EE"/>
                </a:solidFill>
                <a:latin typeface="Segoe UI"/>
              </a:rPr>
              <a:t>pytest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7315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F8FAFC"/>
                </a:solidFill>
                <a:latin typeface="Segoe UI"/>
              </a:rPr>
              <a:t>Prepared by:  Pavan  •  Raj  •  Tirth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Version 1.0.0  |  MIT License  |  Modular Monolith + Clean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What we cover in this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636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Problem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Why VaultDocs exists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417320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819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15636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What the system achieves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17320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5819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5636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Core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Modules + infrastructure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79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8437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825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Need &amp;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209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Gaps covered, MVP boundary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2679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81144" y="28437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825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Pros &amp; 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209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Advantages, limitations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2679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5048" y="28437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2825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32095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12-week Gantt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41064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10565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0873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Users &amp; Roles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4714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Personas, RBAC matrix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2544" y="3941064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81144" y="410565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12664" y="40873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Requirements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2664" y="44714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Functional + non-functional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3941064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5048" y="410565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6568" y="40873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System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44714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Architecture, use cases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202936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5367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Data Dictionary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5733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users table, verified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2544" y="5202936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81144" y="5367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12664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UI &amp; Reports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12664" y="5733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Screens, report designs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5202936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85048" y="5367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6568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8FAFC"/>
                </a:solidFill>
                <a:latin typeface="Segoe UI"/>
              </a:rPr>
              <a:t>Coding Standards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6568" y="5733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Ruff, mypy, CI/CD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87171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Documents today: scattered, untracked, non-compliant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82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Scattered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Files spread across drives, emails &amp; local machines — no single point of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4630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1682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No Version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240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Old versions get overwritten; no history of who changed what, when.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6304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6824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Weak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240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All-or-nothing folder shares; no document-level, role-based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6484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No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No log of who accessed, modified or deleted a file — incidents can't be investigated.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42900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6484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Compliance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Regulated industries need retention + access policies generic tools don't provide.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42900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8FAFC"/>
                </a:solidFill>
                <a:latin typeface="Segoe UI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6484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No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2062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Closed, GUI-heavy tools can't plug into CI/CD or enterprise automation.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687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Impact: knowledge workers lose ~2.5 hrs/day searching for information; compliance failures have cost organizations millions in penalties.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Objective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What VaultDocs is built to achieve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Centralized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490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Single platform for all documents, via a structured REST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Immutable 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219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Every update = new unmodifiable version. Tamper-proof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44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Granular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535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Admin / Manager / Editor / Viewer enforced at document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675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Complete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685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Append-only logs of every action — even admins can't alter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407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Fast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416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PostgreSQL GIN full-text search, &lt; 250 ms over millions of docs.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5138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API-First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1480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Every feature exposed via documented REST APIs.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760720"/>
            <a:ext cx="7223760" cy="62179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5870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8FAFC"/>
                </a:solidFill>
                <a:latin typeface="Segoe UI"/>
              </a:rPr>
              <a:t>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852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Secure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8795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JWT (15 min) + rotating refresh tokens (7 days), Argon2id/Bcrypt.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1371600"/>
            <a:ext cx="3611880" cy="502920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TECHNICAL TARGETS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p95 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148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&lt; 200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624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Test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624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≥ 85%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099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mypy strict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0998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0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5753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57530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50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Uptime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0507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99.9%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Concurrent users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1000 / node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0932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Clean Architecture — business logic independent of framework &amp; DB.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Core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Five modules +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635240" cy="89611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4708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Registration, JWT login (15m access / 7d refresh), Argon2id hashing, Redis-backed rotation &amp; blacklisting.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59152"/>
            <a:ext cx="7635240" cy="89611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Document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34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Streaming multipart upload (≤100 MB), SHA-256 integrity hash, metadata CRUD, soft delete, purge.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46704"/>
            <a:ext cx="7635240" cy="89611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547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Version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2219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Immutable versions v1…vn on every update; head pointer; old versions permanently read-only.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34256"/>
            <a:ext cx="7635240" cy="89611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43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Search &amp; 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09744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tsvector + GIN full-text search; filter by owner, MIME, dates, tags; Redis cache (5-min TTL).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21808"/>
            <a:ext cx="7635240" cy="89611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5229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31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Audit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97296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Segoe UI"/>
              </a:rPr>
              <a:t>Structured JSON logs: actor, tenant, action, resource, IP, timestamp. Append-only.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371600"/>
            <a:ext cx="3246120" cy="484632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8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Segoe UI"/>
              </a:rPr>
              <a:t>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2103120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41080" y="21534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FastAPI 0.115+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441448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1080" y="249174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PostgreSQL 17+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2779776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41080" y="283006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Redis 7.4+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118104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1080" y="31683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SQLAlchemy 2.x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3456432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350672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Alembic 1.14+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3794760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41080" y="38450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Pydantic v2.10+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4133088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1080" y="41833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POSIX storage (S3-ready)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4471416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1080" y="452170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Docker Compose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4809744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41080" y="486003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Ruff + mypy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5148072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519836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pytest 8.x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5486400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41080" y="55366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GitHub Actions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5824728"/>
            <a:ext cx="2788920" cy="365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41080" y="58750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8FAFC"/>
                </a:solidFill>
                <a:latin typeface="Segoe UI"/>
              </a:rPr>
              <a:t>uv 0.5+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Need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BF24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Gaps in existing tools → VaultDocs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171"/>
                </a:solidFill>
                <a:latin typeface="Segoe UI"/>
              </a:rPr>
              <a:t>TODAY (the gap)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Segoe U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WITH VAULTDOCS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Shared drives /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28800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No single source of truth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938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One centralized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87752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Manual version naming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587752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"final_FINAL.docx" chaos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587752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Automatic immutable versions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46704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4564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Folder-level sharing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346704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34564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No granular permissions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346704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456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Document-level RBAC, 4 roles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05656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2153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Zero activity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4105656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0" y="42153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Incidents can't be investigated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105656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42153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Complete append-only audit trail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64608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9743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Generic cloud tools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4864608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0" y="49743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Retention &amp; compliance unmet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4864608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49743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Built for regulated industries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23560"/>
            <a:ext cx="420624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733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Browser-only 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5623560"/>
            <a:ext cx="301752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20640" y="57332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No automation possible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5623560"/>
            <a:ext cx="3657600" cy="658368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0" y="57332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D399"/>
                </a:solidFill>
                <a:latin typeface="Segoe UI"/>
              </a:rPr>
              <a:t>✔ REST API for CI/CD &amp; apps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Scope of the New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Phase 1 — MVP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892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✔  IN SCOPE (MVP)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JWT auth + refresh rotation, Argon2id hashing, session revocation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Streaming upload ≤ 100 MB, SHA-256 integrity, metadata CRUD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Soft delete / restore + admin-only hard purge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Immutable versioning — full history, point-in-time download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RBAC: Admin • Manager • Editor • Viewer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GIN full-text search + multi-field filters + Redis cache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Append-only structured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Segoe UI"/>
              </a:rPr>
              <a:t>✘  OUT OF SCOPE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OCR for scanned PDFs / images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AI semantic search (pgvector) &amp; LLM summarization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Cloud storage — S3 / Azure Blob / GCS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Frontend dashboard &amp; mobile apps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Slack / Drive / Teams integrations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SAML / OIDC enterprise 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Advantages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An honest view of the 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892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Centralized repository — no scattered drives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Tamper-proof version history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Granular RBAC enforced on every API call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Complete, append-only audit trail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Sub-250 ms full-text search at scale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API-first — integrates with anything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Clean Architecture + Docker portability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Type-safe, 85%+ tested, scalable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LIMITATIONS (v1.0)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Backend only — no UI yet (Postman / curl / custom clients)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Local filesystem storage (S3-ready abstraction in place)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No OCR / AI features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Single-node deployment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No third-party integrations yet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▸  </a:t>
            </a:r>
            <a:r>
              <a:rPr sz="1250">
                <a:solidFill>
                  <a:srgbClr val="F8FAFC"/>
                </a:solidFill>
                <a:latin typeface="Segoe UI"/>
              </a:rPr>
              <a:t>Basic multi-tenancy (app-level; RLS + KMS in Phase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--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!-- Header indicator --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!-- Title --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Segoe UI"/>
              </a:rPr>
              <a:t>Proposed Timeline Chart — Day-by-Day Scope</a:t>
            </a:r>
          </a:p>
        </p:txBody>
      </p:sp>
      <!-- Tag --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09</a:t>
            </a:r>
          </a:p>
        </p:txBody>
      </p:sp>
      <!-- Subtitle --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14-Day Implementation Scope &amp; Deliverables Matrix (Review 2 Lifecycle)</a:t>
            </a:r>
          </a:p>
        </p:txBody>
      </p:sp>
      <!-- ==================== 4 PHASE CARDS (DAYS 1-14) ==================== -->
      <!-- CARD 1: Phase I (Days 1-3) -->
      <p:sp>
        <p:nvSpPr>
          <p:cNvPr id="10" name="Card Phase 1"/>
          <p:cNvSpPr/>
          <p:nvPr/>
        </p:nvSpPr>
        <p:spPr>
          <a:xfrm>
            <a:off x="502920" y="1480000"/>
            <a:ext cx="26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PHASE I • INITIATION</a:t>
            </a:r>
          </a:p>
          <a:p>
            <a:r>
              <a:rPr sz="1000" b="1">
                <a:solidFill>
                  <a:srgbClr val="94A3B8"/>
                </a:solidFill>
                <a:latin typeface="Segoe UI"/>
              </a:rPr>
              <a:t>Days 1 – 3 • Requirements</a:t>
            </a:r>
          </a:p>
          <a:p>
            <a:pPr marL="0" indent="0" spaceBefore="120000"/>
            <a:r>
              <a:rPr sz="1050" b="1">
                <a:solidFill>
                  <a:srgbClr val="F8FAFC"/>
                </a:solidFill>
                <a:latin typeface="Segoe UI"/>
              </a:rPr>
              <a:t>Day 1: </a:t>
            </a:r>
            <a:r>
              <a:rPr sz="950">
                <a:solidFill>
                  <a:srgbClr val="CBD5E1"/>
                </a:solidFill>
                <a:latin typeface="Segoe UI"/>
              </a:rPr>
              <a:t>Project initiation, problem identification, requirement gathering.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2: </a:t>
            </a:r>
            <a:r>
              <a:rPr sz="950">
                <a:solidFill>
                  <a:srgbClr val="CBD5E1"/>
                </a:solidFill>
                <a:latin typeface="Segoe UI"/>
              </a:rPr>
              <a:t>Requirement analysis, feasibility study, scope finalization.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3: </a:t>
            </a:r>
            <a:r>
              <a:rPr sz="950">
                <a:solidFill>
                  <a:srgbClr val="CBD5E1"/>
                </a:solidFill>
                <a:latin typeface="Segoe UI"/>
              </a:rPr>
              <a:t>Functional and non-functional requirements documentation.</a:t>
            </a:r>
          </a:p>
          <a:p>
            <a:pPr spaceBefore="160000"/>
            <a:r>
              <a:rPr sz="950" b="1">
                <a:solidFill>
                  <a:srgbClr val="34D399"/>
                </a:solidFill>
                <a:latin typeface="Segoe UI"/>
              </a:rPr>
              <a:t>✔ DELIVERABLE: SRS v1.0, RTM</a:t>
            </a:r>
          </a:p>
        </p:txBody>
      </p:sp>
      <!-- CARD 2: Phase II (Days 4-7) -->
      <p:sp>
        <p:nvSpPr>
          <p:cNvPr id="11" name="Card Phase 2"/>
          <p:cNvSpPr/>
          <p:nvPr/>
        </p:nvSpPr>
        <p:spPr>
          <a:xfrm>
            <a:off x="3300000" y="1480000"/>
            <a:ext cx="27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PHASE II • MODELING</a:t>
            </a:r>
          </a:p>
          <a:p>
            <a:r>
              <a:rPr sz="1000" b="1">
                <a:solidFill>
                  <a:srgbClr val="94A3B8"/>
                </a:solidFill>
                <a:latin typeface="Segoe UI"/>
              </a:rPr>
              <a:t>Days 4 – 7 • Architecture</a:t>
            </a:r>
          </a:p>
          <a:p>
            <a:pPr marL="0" indent="0" spaceBefore="120000"/>
            <a:r>
              <a:rPr sz="1050" b="1">
                <a:solidFill>
                  <a:srgbClr val="F8FAFC"/>
                </a:solidFill>
                <a:latin typeface="Segoe UI"/>
              </a:rPr>
              <a:t>Day 4: </a:t>
            </a:r>
            <a:r>
              <a:rPr sz="950">
                <a:solidFill>
                  <a:srgbClr val="CBD5E1"/>
                </a:solidFill>
                <a:latin typeface="Segoe UI"/>
              </a:rPr>
              <a:t>Use Case diagrams, actors, &lt;&lt;include&gt;&gt;, &lt;&lt;extend&gt;&gt;.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5: </a:t>
            </a:r>
            <a:r>
              <a:rPr sz="950">
                <a:solidFill>
                  <a:srgbClr val="CBD5E1"/>
                </a:solidFill>
                <a:latin typeface="Segoe UI"/>
              </a:rPr>
              <a:t>System architecture &amp; database schema design.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6: </a:t>
            </a:r>
            <a:r>
              <a:rPr sz="950">
                <a:solidFill>
                  <a:srgbClr val="CBD5E1"/>
                </a:solidFill>
                <a:latin typeface="Segoe UI"/>
              </a:rPr>
              <a:t>ER diagram, DFD, UML sequence diagrams.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7: </a:t>
            </a:r>
            <a:r>
              <a:rPr sz="950">
                <a:solidFill>
                  <a:srgbClr val="CBD5E1"/>
                </a:solidFill>
                <a:latin typeface="Segoe UI"/>
              </a:rPr>
              <a:t>UI/UX design and module planning.</a:t>
            </a:r>
          </a:p>
          <a:p>
            <a:pPr spaceBefore="120000"/>
            <a:r>
              <a:rPr sz="950" b="1">
                <a:solidFill>
                  <a:srgbClr val="34D399"/>
                </a:solidFill>
                <a:latin typeface="Segoe UI"/>
              </a:rPr>
              <a:t>✔ DELIVERABLE: UML Models, Wireframes</a:t>
            </a:r>
          </a:p>
        </p:txBody>
      </p:sp>
      <!-- CARD 3: Phase III (Days 8-11) -->
      <p:sp>
        <p:nvSpPr>
          <p:cNvPr id="12" name="Card Phase 3"/>
          <p:cNvSpPr/>
          <p:nvPr/>
        </p:nvSpPr>
        <p:spPr>
          <a:xfrm>
            <a:off x="6200000" y="1480000"/>
            <a:ext cx="27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4D399"/>
                </a:solidFill>
                <a:latin typeface="Segoe UI"/>
              </a:rPr>
              <a:t>PHASE III • DEVELOPMENT</a:t>
            </a:r>
          </a:p>
          <a:p>
            <a:r>
              <a:rPr sz="1000" b="1">
                <a:solidFill>
                  <a:srgbClr val="94A3B8"/>
                </a:solidFill>
                <a:latin typeface="Segoe UI"/>
              </a:rPr>
              <a:t>Days 8 – 11 • Implementation</a:t>
            </a:r>
          </a:p>
          <a:p>
            <a:pPr marL="0" indent="0" spaceBefore="120000"/>
            <a:r>
              <a:rPr sz="1050" b="1">
                <a:solidFill>
                  <a:srgbClr val="F8FAFC"/>
                </a:solidFill>
                <a:latin typeface="Segoe UI"/>
              </a:rPr>
              <a:t>Day 8: </a:t>
            </a:r>
            <a:r>
              <a:rPr sz="950">
                <a:solidFill>
                  <a:srgbClr val="CBD5E1"/>
                </a:solidFill>
                <a:latin typeface="Segoe UI"/>
              </a:rPr>
              <a:t>Database implementation &amp; configuration (Alembic).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9: </a:t>
            </a:r>
            <a:r>
              <a:rPr sz="950">
                <a:solidFill>
                  <a:srgbClr val="CBD5E1"/>
                </a:solidFill>
                <a:latin typeface="Segoe UI"/>
              </a:rPr>
              <a:t>Core module development (Auth, Docs, Storage).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10: </a:t>
            </a:r>
            <a:r>
              <a:rPr sz="950">
                <a:solidFill>
                  <a:srgbClr val="CBD5E1"/>
                </a:solidFill>
                <a:latin typeface="Segoe UI"/>
              </a:rPr>
              <a:t>Additional features (Versioning, Folders, Shares).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11: </a:t>
            </a:r>
            <a:r>
              <a:rPr sz="950">
                <a:solidFill>
                  <a:srgbClr val="CBD5E1"/>
                </a:solidFill>
                <a:latin typeface="Segoe UI"/>
              </a:rPr>
              <a:t>Data report generation implementation.</a:t>
            </a:r>
          </a:p>
          <a:p>
            <a:pPr spaceBefore="120000"/>
            <a:r>
              <a:rPr sz="950" b="1">
                <a:solidFill>
                  <a:srgbClr val="34D399"/>
                </a:solidFill>
                <a:latin typeface="Segoe UI"/>
              </a:rPr>
              <a:t>✔ DELIVERABLE: API Endpoints, Reports</a:t>
            </a:r>
          </a:p>
        </p:txBody>
      </p:sp>
      <!-- CARD 4: Phase IV (Days 12-14) -->
      <p:sp>
        <p:nvSpPr>
          <p:cNvPr id="13" name="Card Phase 4"/>
          <p:cNvSpPr/>
          <p:nvPr/>
        </p:nvSpPr>
        <p:spPr>
          <a:xfrm>
            <a:off x="9100000" y="1480000"/>
            <a:ext cx="26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FBBF24"/>
                </a:solidFill>
                <a:latin typeface="Segoe UI"/>
              </a:rPr>
              <a:t>PHASE IV • TESTING</a:t>
            </a:r>
          </a:p>
          <a:p>
            <a:r>
              <a:rPr sz="1000" b="1">
                <a:solidFill>
                  <a:srgbClr val="94A3B8"/>
                </a:solidFill>
                <a:latin typeface="Segoe UI"/>
              </a:rPr>
              <a:t>Days 12 – 14 • Submission</a:t>
            </a:r>
          </a:p>
          <a:p>
            <a:pPr marL="0" indent="0" spaceBefore="120000"/>
            <a:r>
              <a:rPr sz="1050" b="1">
                <a:solidFill>
                  <a:srgbClr val="F8FAFC"/>
                </a:solidFill>
                <a:latin typeface="Segoe UI"/>
              </a:rPr>
              <a:t>Day 12: </a:t>
            </a:r>
            <a:r>
              <a:rPr sz="950">
                <a:solidFill>
                  <a:srgbClr val="CBD5E1"/>
                </a:solidFill>
                <a:latin typeface="Segoe UI"/>
              </a:rPr>
              <a:t>Module integration &amp; system testing (pytest suites).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13: </a:t>
            </a:r>
            <a:r>
              <a:rPr sz="950">
                <a:solidFill>
                  <a:srgbClr val="CBD5E1"/>
                </a:solidFill>
                <a:latin typeface="Segoe UI"/>
              </a:rPr>
              <a:t>Bug fixing, validation, performance testing (QA PASS).</a:t>
            </a:r>
          </a:p>
          <a:p>
            <a:pPr marL="0" indent="0" spaceBefore="100000"/>
            <a:r>
              <a:rPr sz="1050" b="1">
                <a:solidFill>
                  <a:srgbClr val="F8FAFC"/>
                </a:solidFill>
                <a:latin typeface="Segoe UI"/>
              </a:rPr>
              <a:t>Day 14: </a:t>
            </a:r>
            <a:r>
              <a:rPr sz="950">
                <a:solidFill>
                  <a:srgbClr val="CBD5E1"/>
                </a:solidFill>
                <a:latin typeface="Segoe UI"/>
              </a:rPr>
              <a:t>Final documentation, report preparation, review &amp; submission.</a:t>
            </a:r>
          </a:p>
          <a:p>
            <a:pPr spaceBefore="160000"/>
            <a:r>
              <a:rPr sz="950" b="1">
                <a:solidFill>
                  <a:srgbClr val="34D399"/>
                </a:solidFill>
                <a:latin typeface="Segoe UI"/>
              </a:rPr>
              <a:t>✔ DELIVERABLE: Review 2 Artifacts</a:t>
            </a:r>
          </a:p>
        </p:txBody>
      </p:sp>
      <!-- Bottom Summary Bar -->
      <p:sp>
        <p:nvSpPr>
          <p:cNvPr id="14" name="Bottom Bar"/>
          <p:cNvSpPr/>
          <p:nvPr/>
        </p:nvSpPr>
        <p:spPr>
          <a:xfrm>
            <a:off x="502920" y="6180000"/>
            <a:ext cx="11197080" cy="2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50">
                <a:solidFill>
                  <a:srgbClr val="94A3B8"/>
                </a:solidFill>
                <a:latin typeface="Segoe UI"/>
              </a:rPr>
              <a:t>Macro Roadmap: Phase 1 MVP (12 Weeks) Verified  •  Next: Phase 2 Intelligence (Q4 26–Q1 27) → Phase 3 Integrations → Phase 4 Enterprise</a:t>
            </a:r>
          </a:p>
        </p:txBody>
      </p:sp>
      <!-- Footer -->
      <p:sp>
        <p:nvSpPr>
          <p:cNvPr id="15" name="TextBox 4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sp>
        <p:nvSpPr>
          <p:cNvPr id="16" name="TextBox 4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645920"/>
            <a:ext cx="5029200" cy="5029200"/>
          </a:xfrm>
          <a:prstGeom prst="ellipse">
            <a:avLst/>
          </a:prstGeom>
          <a:solidFill>
            <a:srgbClr val="1621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463040" y="5303520"/>
            <a:ext cx="4023360" cy="4023360"/>
          </a:xfrm>
          <a:prstGeom prst="ellipse">
            <a:avLst/>
          </a:prstGeom>
          <a:solidFill>
            <a:srgbClr val="16213B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D3EE"/>
                </a:solidFill>
                <a:latin typeface="Segoe UI"/>
              </a:rP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Segoe UI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Q4 26 – Q1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OCR • pgvector semantic search • LLM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B5CF6"/>
                </a:solidFill>
                <a:latin typeface="Segoe UI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Segoe UI"/>
              </a:rPr>
              <a:t>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Q2 – Q3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6032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S3/Azure storage • Slack/Drive sync • webhooks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429000" cy="1965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BBF24"/>
                </a:solidFill>
                <a:latin typeface="Segoe U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Segoe UI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Q4 27+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SAML/OIDC SSO • tenant KMS • mobile 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8FAFC"/>
                </a:solidFill>
                <a:latin typeface="Segoe UI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VaultDocs — secure, versioned, auditable, API-first document management.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7DD3FC"/>
                </a:solidFill>
                <a:latin typeface="Segoe UI"/>
              </a:rPr>
              <a:t>github.com/</a:t>
            </a:r>
            <a:r>
              <a:rPr sz="1200" b="0" dirty="0" err="1">
                <a:solidFill>
                  <a:srgbClr val="7DD3FC"/>
                </a:solidFill>
                <a:latin typeface="Segoe UI"/>
              </a:rPr>
              <a:t>pavanporiya</a:t>
            </a:r>
            <a:r>
              <a:rPr sz="1200" b="0" dirty="0">
                <a:solidFill>
                  <a:srgbClr val="7DD3FC"/>
                </a:solidFill>
                <a:latin typeface="Segoe UI"/>
              </a:rPr>
              <a:t>/</a:t>
            </a:r>
            <a:r>
              <a:rPr sz="1200" b="0" dirty="0" err="1">
                <a:solidFill>
                  <a:srgbClr val="7DD3FC"/>
                </a:solidFill>
                <a:latin typeface="Segoe UI"/>
              </a:rPr>
              <a:t>VaultDocs</a:t>
            </a:r>
            <a:r>
              <a:rPr sz="1200" b="0" dirty="0">
                <a:solidFill>
                  <a:srgbClr val="7DD3FC"/>
                </a:solidFill>
                <a:latin typeface="Segoe UI"/>
              </a:rPr>
              <a:t>   •   Pavan  • Raj • Tirth   •   v1.0.0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926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dirty="0">
                <a:solidFill>
                  <a:srgbClr val="94A3B8"/>
                </a:solidFill>
                <a:latin typeface="Segoe UI"/>
              </a:rPr>
              <a:t>Determined, categorized, specified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D3EE"/>
                </a:solidFill>
                <a:latin typeface="Segoe UI"/>
              </a:rPr>
              <a:t>FUNCTIONAL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72184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325880" cy="36576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5049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Segoe UI"/>
              </a:rPr>
              <a:t>FR-AUTH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51790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F8FAFC"/>
                </a:solidFill>
                <a:latin typeface="Segoe UI"/>
              </a:rPr>
              <a:t>JWT login, refresh rotation, user registration (4 roles)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2383067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542032"/>
            <a:ext cx="1325880" cy="36576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59232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Segoe UI"/>
              </a:rPr>
              <a:t>FR-DOC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5973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F8FAFC"/>
                </a:solidFill>
                <a:latin typeface="Segoe UI"/>
              </a:rPr>
              <a:t>Upload ≤100 MB + SHA-256, metadata, soft delete, hard purge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4899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1325880" cy="36576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5341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Segoe UI"/>
              </a:rPr>
              <a:t>FR-VER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401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Auto immutable versioning, version download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70248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4425696"/>
            <a:ext cx="1325880" cy="36576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4759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Segoe UI"/>
              </a:rPr>
              <a:t>FR-SRCH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3434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Full-text GIN search, filtered by owner / MIME / date /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4084"/>
            <a:ext cx="667512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5367528"/>
            <a:ext cx="1325880" cy="36576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4178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Segoe UI"/>
              </a:rPr>
              <a:t>FR-AUD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28523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Append-only event logging: actor, tenant, action, resource, 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2070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B5CF6"/>
                </a:solidFill>
                <a:latin typeface="Segoe UI"/>
              </a:rPr>
              <a:t>NON-FUNCTIONAL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554480"/>
            <a:ext cx="4114800" cy="896112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0" y="1755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Segoe UI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664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API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&lt; 150 ms p95 @ 500 RPS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2560320"/>
            <a:ext cx="4114800" cy="896112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Segoe UI"/>
              </a:rPr>
              <a:t>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&lt; 250 ms over 1M docs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566160"/>
            <a:ext cx="4114800" cy="896112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3767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Segoe UI"/>
              </a:rPr>
              <a:t>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Concurrency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1000 users /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4572000"/>
            <a:ext cx="4114800" cy="896112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0" y="4773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Segoe UI"/>
              </a:rP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681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029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TLS 1.3 • Argon2id • AES-256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43800" y="5577840"/>
            <a:ext cx="4114800" cy="896112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5779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8FAFC"/>
                </a:solidFill>
                <a:latin typeface="Segoe UI"/>
              </a:rPr>
              <a:t>⏱️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8FAFC"/>
                </a:solidFill>
                <a:latin typeface="Segoe UI"/>
              </a:rPr>
              <a:t>Reliability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6035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99.9% uptime + schema checks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System Design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Modular monolith • Clean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7863840" cy="9875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7DD3FC"/>
                </a:solidFill>
                <a:latin typeface="Segoe U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FastAPI routers • Pydantic DTOs • JWT middleware • exception handlers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78608"/>
            <a:ext cx="7040880" cy="9875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6883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D3EE"/>
                </a:solidFill>
                <a:latin typeface="Segoe U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5409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AuthService • DocumentService • SearchService • IDocumentRepository / IStorageEngine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694176"/>
            <a:ext cx="6217920" cy="9875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380390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8B5CF6"/>
                </a:solidFill>
                <a:latin typeface="Segoe UI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966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User • Document • DocumentVersion • AuditLog • pure business rules &amp;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4809744"/>
            <a:ext cx="5394960" cy="9875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4919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BBF24"/>
                </a:solidFill>
                <a:latin typeface="Segoe UI"/>
              </a:rP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2852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SQLAlchemy 2.x repos • Redis adapter • POSIX storage • Alembic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Segoe UI"/>
              </a:rPr>
              <a:t>Dependencies flow inward only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46304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194560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D3FC"/>
                </a:solidFill>
                <a:latin typeface="Segoe UI"/>
              </a:rPr>
              <a:t>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334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vaultdocs:latest  :8000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218688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3310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D3FC"/>
                </a:solidFill>
                <a:latin typeface="Segoe UI"/>
              </a:rPr>
              <a:t>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postgres:17  :5432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242816"/>
            <a:ext cx="24688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43342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D3FC"/>
                </a:solidFill>
                <a:latin typeface="Segoe UI"/>
              </a:rPr>
              <a:t>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681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Segoe UI"/>
              </a:rPr>
              <a:t>redis:7.4-alpine  :6379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28523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Single docker-compose up deploys the whole stack.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Segoe UI"/>
              </a:rPr>
              <a:t>Use Case Diagram — &lt;&lt;include&gt;&gt; &amp; &lt;&lt;extend&gt;&gt;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21 Use Cases • 4 Actors • &lt;&lt;include&gt;&gt; Mandatory Reusable &amp; &lt;&lt;extend&gt;&gt; Conditional Relationships</a:t>
            </a:r>
          </a:p>
        </p:txBody>
      </p:sp>
      <!-- Picture Embedding (Points to image1.png which is replaced with new_pptx_image1.png) -->
      <p:pic>
        <p:nvPicPr>
          <p:cNvPr id="7" name="Picture 6" descr="use_cas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00" y="1250000"/>
            <a:ext cx="9391695" cy="5100000"/>
          </a:xfrm>
          <a:prstGeom prst="rect">
            <a:avLst/>
          </a:prstGeom>
        </p:spPr>
      </p:pic>
      <!-- Footer -->
      <p:sp>
        <p:nvSpPr>
          <p:cNvPr id="8" name="TextBox 7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--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!-- Indicator --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!-- Title --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Segoe UI"/>
              </a:rPr>
              <a:t>Data Dictionary — Core &amp; Additional Tables</a:t>
            </a:r>
          </a:p>
        </p:txBody>
      </p:sp>
      <!-- Tag --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14</a:t>
            </a:r>
          </a:p>
        </p:txBody>
      </p:sp>
      <!-- Subtitle --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Complete database schema verified from SQLAlchemy models &amp; 8 Alembic migrations</a:t>
            </a:r>
          </a:p>
        </p:txBody>
      </p:sp>
      <!-- ==================== 3 COLUMN CARDS ==================== -->
      <!-- CARD 1: users & folders -->
      <p:sp>
        <p:nvSpPr>
          <p:cNvPr id="10" name="Card 1"/>
          <p:cNvSpPr/>
          <p:nvPr/>
        </p:nvSpPr>
        <p:spPr>
          <a:xfrm>
            <a:off x="502920" y="1480000"/>
            <a:ext cx="355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1. USERS &amp; FOLDERS</a:t>
            </a:r>
          </a:p>
          <a:p>
            <a:r>
              <a:rPr sz="950" b="1">
                <a:solidFill>
                  <a:srgbClr val="94A3B8"/>
                </a:solidFill>
                <a:latin typeface="Segoe UI"/>
              </a:rPr>
              <a:t>Identity &amp; Container Hierarchy</a:t>
            </a:r>
          </a:p>
          <a:p>
            <a:pPr spaceBefore="100000"/>
            <a:r>
              <a:rPr sz="1100" b="1">
                <a:solidFill>
                  <a:srgbClr val="F8FAFC"/>
                </a:solidFill>
                <a:latin typeface="Segoe UI"/>
              </a:rPr>
              <a:t>users </a:t>
            </a:r>
            <a:r>
              <a:rPr sz="900">
                <a:solidFill>
                  <a:srgbClr val="64748B"/>
                </a:solidFill>
                <a:latin typeface="Segoe UI"/>
              </a:rPr>
              <a:t>(d2be618d8b17, f4a9c1d27e58)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full_name: VARCHAR(100)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email: VARCHAR(255) UNIQUE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password_hash: VARCHAR(255) (bcrypt)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is_active: BOOL (default TRUE)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is_superuser: BOOL (default FALSE)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preferences: JSON (theme/density)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created_at / updated_at: TIMESTAMPTZ</a:t>
            </a:r>
          </a:p>
          <a:p>
            <a:pPr spaceBefore="120000"/>
            <a:r>
              <a:rPr sz="1100" b="1">
                <a:solidFill>
                  <a:srgbClr val="F8FAFC"/>
                </a:solidFill>
                <a:latin typeface="Segoe UI"/>
              </a:rPr>
              <a:t>folders </a:t>
            </a:r>
            <a:r>
              <a:rPr sz="900">
                <a:solidFill>
                  <a:srgbClr val="64748B"/>
                </a:solidFill>
                <a:latin typeface="Segoe UI"/>
              </a:rPr>
              <a:t>(e5f6a7b8c9d0)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name: VARCHAR(255)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owner_id: UUID [FK -&gt; users.id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parent_id: UUID [FK -&gt; folders.id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created_at / updated_at: TIMESTAMPTZ</a:t>
            </a:r>
          </a:p>
        </p:txBody>
      </p:sp>
      <!-- CARD 2: documents & document_versions -->
      <p:sp>
        <p:nvSpPr>
          <p:cNvPr id="11" name="Card 2"/>
          <p:cNvSpPr/>
          <p:nvPr/>
        </p:nvSpPr>
        <p:spPr>
          <a:xfrm>
            <a:off x="4320000" y="1480000"/>
            <a:ext cx="365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2. DOCUMENTS &amp; VERSIONS</a:t>
            </a:r>
          </a:p>
          <a:p>
            <a:r>
              <a:rPr sz="950" b="1">
                <a:solidFill>
                  <a:srgbClr val="94A3B8"/>
                </a:solidFill>
                <a:latin typeface="Segoe UI"/>
              </a:rPr>
              <a:t>Asset Metadata &amp; Immutability</a:t>
            </a:r>
          </a:p>
          <a:p>
            <a:pPr spaceBefore="100000"/>
            <a:r>
              <a:rPr sz="1100" b="1">
                <a:solidFill>
                  <a:srgbClr val="F8FAFC"/>
                </a:solidFill>
                <a:latin typeface="Segoe UI"/>
              </a:rPr>
              <a:t>documents </a:t>
            </a:r>
            <a:r>
              <a:rPr sz="900">
                <a:solidFill>
                  <a:srgbClr val="64748B"/>
                </a:solidFill>
                <a:latin typeface="Segoe UI"/>
              </a:rPr>
              <a:t>(734fe8dff1e1, d175fa19e98d)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name: VARCHAR(255)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owner_id: UUID [FK -&gt; users.id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folder_id: UUID [FK -&gt; folders.id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file_path: VARCHAR(512)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original_filename / content_type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file_size: BIGINT</a:t>
            </a:r>
          </a:p>
          <a:p>
            <a:pPr spaceBefore="120000"/>
            <a:r>
              <a:rPr sz="1100" b="1">
                <a:solidFill>
                  <a:srgbClr val="F8FAFC"/>
                </a:solidFill>
                <a:latin typeface="Segoe UI"/>
              </a:rPr>
              <a:t>document_versions </a:t>
            </a:r>
            <a:r>
              <a:rPr sz="900">
                <a:solidFill>
                  <a:srgbClr val="64748B"/>
                </a:solidFill>
                <a:latin typeface="Segoe UI"/>
              </a:rPr>
              <a:t>(39f5f8971368)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document_id: UUID [FK -&gt; docs.id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version_number: INT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file_path: VARCHAR(512)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sha256_hash: CHAR(64) NOT NULL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uq_document_versions_doc_id_version_num</a:t>
            </a:r>
          </a:p>
        </p:txBody>
      </p:sp>
      <!-- CARD 3: document_shares & audit_logs -->
      <p:sp>
        <p:nvSpPr>
          <p:cNvPr id="12" name="Card 3"/>
          <p:cNvSpPr/>
          <p:nvPr/>
        </p:nvSpPr>
        <p:spPr>
          <a:xfrm>
            <a:off x="8220000" y="1480000"/>
            <a:ext cx="35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4D399"/>
                </a:solidFill>
                <a:latin typeface="Segoe UI"/>
              </a:rPr>
              <a:t>3. SHARING &amp; GOVERNANCE</a:t>
            </a:r>
          </a:p>
          <a:p>
            <a:r>
              <a:rPr sz="950" b="1">
                <a:solidFill>
                  <a:srgbClr val="94A3B8"/>
                </a:solidFill>
                <a:latin typeface="Segoe UI"/>
              </a:rPr>
              <a:t>Access Delegation &amp; Audit Trail</a:t>
            </a:r>
          </a:p>
          <a:p>
            <a:pPr spaceBefore="100000"/>
            <a:r>
              <a:rPr sz="1100" b="1">
                <a:solidFill>
                  <a:srgbClr val="F8FAFC"/>
                </a:solidFill>
                <a:latin typeface="Segoe UI"/>
              </a:rPr>
              <a:t>document_shares </a:t>
            </a:r>
            <a:r>
              <a:rPr sz="900">
                <a:solidFill>
                  <a:srgbClr val="64748B"/>
                </a:solidFill>
                <a:latin typeface="Segoe UI"/>
              </a:rPr>
              <a:t>(1cbbd132f60c, a3f8c2e91d47)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document_id: UUID [FK -&gt; docs.id CASCADE]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shared_with_user_id: UUID [FK -&gt; users.id]</a:t>
            </a:r>
          </a:p>
          <a:p>
            <a:r>
              <a:rPr sz="900" b="1">
                <a:solidFill>
                  <a:srgbClr val="FBBF24"/>
                </a:solidFill>
                <a:latin typeface="Segoe UI"/>
              </a:rPr>
              <a:t>▸ download_allowed: BOOL (toggle)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uq_document_shares_doc_id_user_id</a:t>
            </a:r>
          </a:p>
          <a:p>
            <a:pPr spaceBefore="120000"/>
            <a:r>
              <a:rPr sz="1100" b="1">
                <a:solidFill>
                  <a:srgbClr val="F8FAFC"/>
                </a:solidFill>
                <a:latin typeface="Segoe UI"/>
              </a:rPr>
              <a:t>audit_logs </a:t>
            </a:r>
            <a:r>
              <a:rPr sz="900">
                <a:solidFill>
                  <a:srgbClr val="64748B"/>
                </a:solidFill>
                <a:latin typeface="Segoe UI"/>
              </a:rPr>
              <a:t>(Governance Engine)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id: UUID [PK]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actor_id: UUID [FK -&gt; users.id]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action: VARCHAR(100) (INDEX)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target_resource / resource_id / client_ip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metadata: JSONB NOT NULL DEFAULT '{}'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created_at: TIMESTAMPTZ (INDEX)</a:t>
            </a:r>
          </a:p>
        </p:txBody>
      </p:sp>
      <!-- Bottom Summary Bar -->
      <p:sp>
        <p:nvSpPr>
          <p:cNvPr id="14" name="Bottom Bar"/>
          <p:cNvSpPr/>
          <p:nvPr/>
        </p:nvSpPr>
        <p:spPr>
          <a:xfrm>
            <a:off x="502920" y="6180000"/>
            <a:ext cx="11197080" cy="2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50">
                <a:solidFill>
                  <a:srgbClr val="94A3B8"/>
                </a:solidFill>
                <a:latin typeface="Segoe UI"/>
              </a:rPr>
              <a:t>8 Alembic Migrations Verified  •  ON DELETE CASCADE Integrity  •  SHA-256 Immutability  •  GIN Full-Text Indexing</a:t>
            </a:r>
          </a:p>
        </p:txBody>
      </p:sp>
      <!-- Footer -->
      <p:sp>
        <p:nvSpPr>
          <p:cNvPr id="15" name="TextBox 48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16" name="TextBox 4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User Interface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Planned web dashboard over the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UI-01 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339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Email:  [ ____________________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12848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2265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Password: [ ________________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505456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1917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[        LOGIN       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554480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UI-02  Document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1920240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19339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Search [____] Owner[__] Type[__]  [+Upload]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7992" y="2212848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22265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Title | Owner | Type | Ver | Updated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2505456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251917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Contract-A | Sarah | PDF | v3 | 09-10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2798064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28117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Report_Q3 | Elena | DOCX | v2 | 09-08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3090672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9432" y="310438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Actions: View DL Ver Edit 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4630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1554480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UI-03  Upload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1920240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2" y="1933956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File: [ drag &amp; drop / browse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2212848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22265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Title [____]  Tags [key=value]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2" y="2505456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94192" y="2519172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Progress [######----] 60%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2798064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94192" y="28117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SHA-256: a94f8e… (auto)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3090672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94192" y="310438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[ Upload ]   [ Cancel 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69079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UI-04  Version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434839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2" y="4448555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v3 | 09-10 14:22 | Elena | a94f… | DL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4727447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74116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v2 | 09-02 09:10 | Alex  | 88c1… | DL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020055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" y="503377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v1 | 08-28 17:45 | Elena | 51d0… | DL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312663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" y="5326379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(all versions read-only)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7992" y="4069079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UI-05  Audit Logs (Admin/Mgr)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07992" y="4434839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99432" y="4448555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Filter: User[__] Action[__] Date[__]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07992" y="4727447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99432" y="474116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10:12 alex document.upload doc-9f2 192.168.1.24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5020055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99432" y="503377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10:40 sarah user.role_change user-41c 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7992" y="5312663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99432" y="5326379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[ Export CSV ]  (append-only)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3977639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16213B"/>
          </a:solidFill>
          <a:ln w="1270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02752" y="4069079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DD3FC"/>
                </a:solidFill>
                <a:latin typeface="Segoe UI"/>
              </a:rPr>
              <a:t>UI-06  User Management (Admin)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02752" y="4434839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94192" y="4448555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[+ New User]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02752" y="4727447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94192" y="4741163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Sarah | sarah@corp.com | Admin  | Active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02752" y="5020055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94192" y="5033771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Alex  | alex@corp.com  | Editor | Active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02752" y="5312663"/>
            <a:ext cx="3236976" cy="237744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94192" y="5326379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Segoe UI"/>
              </a:rPr>
              <a:t>Actions: Edit role / Deactivate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--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!-- Indicator --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!-- Title --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Segoe UI"/>
              </a:rPr>
              <a:t>Data Report Generation &amp; Verification Proof</a:t>
            </a:r>
          </a:p>
        </p:txBody>
      </p:sp>
      <!-- Tag --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Segoe UI"/>
              </a:rPr>
              <a:t>16</a:t>
            </a:r>
          </a:p>
        </p:txBody>
      </p:sp>
      <!-- Subtitle --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Segoe UI"/>
              </a:rPr>
              <a:t>Operational &amp; compliance reporting derived from live PostgreSQL data with genuine QA proof</a:t>
            </a:r>
          </a:p>
        </p:txBody>
      </p:sp>
      <!-- ==================== 2 PANELS: CAPABILITIES VS PROOF ==================== -->
      <!-- LEFT PANEL: Report Types & Workflow -->
      <p:sp>
        <p:nvSpPr>
          <p:cNvPr id="10" name="Panel Left"/>
          <p:cNvSpPr/>
          <p:nvPr/>
        </p:nvSpPr>
        <p:spPr>
          <a:xfrm>
            <a:off x="502920" y="1480000"/>
            <a:ext cx="540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REPORT TYPES &amp; PIPELINE ARCHITECTURE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Sources: audit_logs, documents, document_versions, shares, users</a:t>
            </a:r>
          </a:p>
          <a:p>
            <a:pPr spaceBefore="100000"/>
            <a:r>
              <a:rPr sz="1050" b="1">
                <a:solidFill>
                  <a:srgbClr val="22D3EE"/>
                </a:solidFill>
                <a:latin typeface="Segoe UI"/>
              </a:rPr>
              <a:t>1. Summary Reports (RPT-SUM): </a:t>
            </a:r>
            <a:r>
              <a:rPr sz="950">
                <a:solidFill>
                  <a:srgbClr val="CBD5E1"/>
                </a:solidFill>
                <a:latin typeface="Segoe UI"/>
              </a:rPr>
              <a:t>Storage utilization &amp; quota consumption per owner; MIME type file distribution subtotals.</a:t>
            </a:r>
          </a:p>
          <a:p>
            <a:pPr spaceBefore="90000"/>
            <a:r>
              <a:rPr sz="1050" b="1">
                <a:solidFill>
                  <a:srgbClr val="22D3EE"/>
                </a:solidFill>
                <a:latin typeface="Segoe UI"/>
              </a:rPr>
              <a:t>2. Detailed Reports (RPT-DET): </a:t>
            </a:r>
            <a:r>
              <a:rPr sz="950">
                <a:solidFill>
                  <a:srgbClr val="CBD5E1"/>
                </a:solidFill>
                <a:latin typeface="Segoe UI"/>
              </a:rPr>
              <a:t>Comprehensive audit trail (actor, action, resource, client IP, timestamp); version history with SHA-256 integrity hashes.</a:t>
            </a:r>
          </a:p>
          <a:p>
            <a:pPr spaceBefore="90000"/>
            <a:r>
              <a:rPr sz="1050" b="1">
                <a:solidFill>
                  <a:srgbClr val="22D3EE"/>
                </a:solidFill>
                <a:latin typeface="Segoe UI"/>
              </a:rPr>
              <a:t>3. Date-Wise Reports (RPT-DATE): </a:t>
            </a:r>
            <a:r>
              <a:rPr sz="950">
                <a:solidFill>
                  <a:srgbClr val="CBD5E1"/>
                </a:solidFill>
                <a:latin typeface="Segoe UI"/>
              </a:rPr>
              <a:t>Daily document activity log (uploads, shares, downloads, deletes) with date range filters (start_date → end_date).</a:t>
            </a:r>
          </a:p>
          <a:p>
            <a:pPr spaceBefore="120000"/>
            <a:r>
              <a:rPr sz="1050" b="1">
                <a:solidFill>
                  <a:srgbClr val="FBBF24"/>
                </a:solidFill>
                <a:latin typeface="Segoe UI"/>
              </a:rPr>
              <a:t>Workflow: </a:t>
            </a:r>
            <a:r>
              <a:rPr sz="900">
                <a:solidFill>
                  <a:srgbClr val="CBD5E1"/>
                </a:solidFill>
                <a:latin typeface="Segoe UI"/>
              </a:rPr>
              <a:t>UI Request → JWT Auth Guard → Parameter Validation → Async SQL Query → Subtotals &amp; Formatter (Table / RFC 4180 CSV / JSON) → Immutable Audit Event Logged.</a:t>
            </a:r>
          </a:p>
        </p:txBody>
      </p:sp>
      <!-- RIGHT PANEL: Genuine QA Proof & Implementation Status -->
      <p:sp>
        <p:nvSpPr>
          <p:cNvPr id="11" name="Panel Right"/>
          <p:cNvSpPr/>
          <p:nvPr/>
        </p:nvSpPr>
        <p:spPr>
          <a:xfrm>
            <a:off x="6180000" y="1480000"/>
            <a:ext cx="5520000" cy="4600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txBody>
          <a:bodyPr wrap="square" lIns="140000" rIns="140000" tIns="140000" bIns="140000"/>
          <a:lstStyle/>
          <a:p>
            <a:r>
              <a:rPr sz="1300" b="1">
                <a:solidFill>
                  <a:srgbClr val="34D399"/>
                </a:solidFill>
                <a:latin typeface="Segoe UI"/>
              </a:rPr>
              <a:t>GENUINE QA VERIFICATION PROOF &amp; STATUS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Source: var/browser-qa-results.json &amp; scripts/e2e-api-verify.mjs</a:t>
            </a:r>
          </a:p>
          <a:p>
            <a:pPr spaceBefore="100000"/>
            <a:r>
              <a:rPr sz="1050" b="1">
                <a:solidFill>
                  <a:srgbClr val="34D399"/>
                </a:solidFill>
                <a:latin typeface="Segoe UI"/>
              </a:rPr>
              <a:t>✔ 21 / 21 Browser QA Checks PASS </a:t>
            </a:r>
            <a:r>
              <a:rPr sz="900">
                <a:solidFill>
                  <a:srgbClr val="CBD5E1"/>
                </a:solidFill>
                <a:latin typeface="Segoe UI"/>
              </a:rPr>
              <a:t>(0 errors, 0 failed net requests)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Test E &amp; F: View-only share created with download_allowed=false (PASS)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Test K: In-browser preview renders inline for recipient (PASS)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Test M/N: Direct API download blocked HTTP 403 Forbidden (PASS)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Test P &amp; S: Owner toggles permission to Download -&gt; 200 OK (PASS)</a:t>
            </a:r>
          </a:p>
          <a:p>
            <a:r>
              <a:rPr sz="900">
                <a:solidFill>
                  <a:srgbClr val="CBD5E1"/>
                </a:solidFill>
                <a:latin typeface="Segoe UI"/>
              </a:rPr>
              <a:t>▸ Test V &amp; W: Share revoked -&gt; recipient receives 404 Not Found (PASS)</a:t>
            </a:r>
          </a:p>
          <a:p>
            <a:pPr spaceBefore="120000"/>
            <a:r>
              <a:rPr sz="1050" b="1">
                <a:solidFill>
                  <a:srgbClr val="F8FAFC"/>
                </a:solidFill>
                <a:latin typeface="Segoe UI"/>
              </a:rPr>
              <a:t>Implementation Status Matrix:</a:t>
            </a:r>
          </a:p>
          <a:p>
            <a:r>
              <a:rPr sz="900" b="1">
                <a:solidFill>
                  <a:srgbClr val="34D399"/>
                </a:solidFill>
                <a:latin typeface="Segoe UI"/>
              </a:rPr>
              <a:t>• IMPLEMENTED: </a:t>
            </a:r>
            <a:r>
              <a:rPr sz="900">
                <a:solidFill>
                  <a:srgbClr val="CBD5E1"/>
                </a:solidFill>
                <a:latin typeface="Segoe UI"/>
              </a:rPr>
              <a:t>Audit logs, version history queries, download permission gates, search API.</a:t>
            </a:r>
          </a:p>
          <a:p>
            <a:r>
              <a:rPr sz="900" b="1">
                <a:solidFill>
                  <a:srgbClr val="FBBF24"/>
                </a:solidFill>
                <a:latin typeface="Segoe UI"/>
              </a:rPr>
              <a:t>• PENDING (Phase 2): </a:t>
            </a:r>
            <a:r>
              <a:rPr sz="900">
                <a:solidFill>
                  <a:srgbClr val="CBD5E1"/>
                </a:solidFill>
                <a:latin typeface="Segoe UI"/>
              </a:rPr>
              <a:t>Dedicated public /v1/reports/export API endpoint and automated cron dispatcher.</a:t>
            </a:r>
          </a:p>
          <a:p>
            <a:pPr spaceBefore="100000"/>
            <a:r>
              <a:rPr sz="850" i="1">
                <a:solidFill>
                  <a:srgbClr val="94A3B8"/>
                </a:solidFill>
                <a:latin typeface="Segoe UI"/>
              </a:rPr>
              <a:t>[Sample Output: 2026-09-10 ui.owner DOC_UPLOAD doc-a71e SUCCESS | ui.rec DOC_DOWNLOAD doc-a71e BLOCKED_403]</a:t>
            </a:r>
          </a:p>
        </p:txBody>
      </p:sp>
      <!-- Bottom Summary Bar -->
      <p:sp>
        <p:nvSpPr>
          <p:cNvPr id="14" name="Bottom Bar"/>
          <p:cNvSpPr/>
          <p:nvPr/>
        </p:nvSpPr>
        <p:spPr>
          <a:xfrm>
            <a:off x="502920" y="6180000"/>
            <a:ext cx="11197080" cy="2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50">
                <a:solidFill>
                  <a:srgbClr val="94A3B8"/>
                </a:solidFill>
                <a:latin typeface="Segoe UI"/>
              </a:rPr>
              <a:t>Read-Only, Date-Filterable, Exportable (CSV/JSON)  •  Every Report Execution Audit-Logged (action = report.generate)</a:t>
            </a:r>
          </a:p>
        </p:txBody>
      </p:sp>
      <!-- Footer -->
      <p:sp>
        <p:nvSpPr>
          <p:cNvPr id="15" name="TextBox 32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16" name="TextBox 3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8016" cy="5669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260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8FAFC"/>
                </a:solidFill>
                <a:latin typeface="Segoe UI"/>
              </a:rPr>
              <a:t>Development — Coding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How we keep the codebase clean &amp; safe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81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D3EE"/>
                </a:solidFill>
                <a:latin typeface="Segoe UI"/>
              </a:rPr>
              <a:t>Format &amp; Lint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8424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Ruff • 100-char lines • isort order • zero-error gate in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81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B5CF6"/>
                </a:solidFill>
                <a:latin typeface="Segoe UI"/>
              </a:rPr>
              <a:t>Type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8424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mypy --strict • full annotations • zero Any • Pydantic v2 at boundaries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363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DD3FC"/>
                </a:solidFill>
                <a:latin typeface="Segoe UI"/>
              </a:rPr>
              <a:t>Naming &amp;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3872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PEP8 snake_case • PascalCase classes • I-prefixed interfaces • Google docstrings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718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172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1363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4D399"/>
                </a:solidFill>
                <a:latin typeface="Segoe U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3872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Argon2id only • env-var secrets • no raw SQL • RBAC on every endpoint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727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90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BF24"/>
                </a:solidFill>
                <a:latin typeface="Segoe UI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9320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pytest • unit + integration (testcontainers PG) + E2E • ≥ 85% coverage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2628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727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8FAFC"/>
                </a:solidFill>
                <a:latin typeface="Segoe UI"/>
              </a:rPr>
              <a:t>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90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7193"/>
                </a:solidFill>
                <a:latin typeface="Segoe UI"/>
              </a:rPr>
              <a:t>Git &amp; 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093208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Segoe UI"/>
              </a:rPr>
              <a:t>Conventional Commits • Git Flow • pre-commit hooks • lint→type→test→build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VaultDocs — Secure DMS  •  Review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2114</Words>
  <Application>Microsoft Office PowerPoint</Application>
  <PresentationFormat>Widescreen</PresentationFormat>
  <Paragraphs>456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shrimali tirth</cp:lastModifiedBy>
  <cp:revision>2</cp:revision>
  <dcterms:created xsi:type="dcterms:W3CDTF">2013-01-27T09:14:16Z</dcterms:created>
  <dcterms:modified xsi:type="dcterms:W3CDTF">2026-09-19T17:04:24Z</dcterms:modified>
  <cp:category/>
</cp:coreProperties>
</file>